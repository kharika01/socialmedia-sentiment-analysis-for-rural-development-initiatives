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4"/>
    <p:sldMasterId id="2147483963" r:id="rId5"/>
  </p:sldMasterIdLst>
  <p:notesMasterIdLst>
    <p:notesMasterId r:id="rId20"/>
  </p:notesMasterIdLst>
  <p:handoutMasterIdLst>
    <p:handoutMasterId r:id="rId21"/>
  </p:handoutMasterIdLst>
  <p:sldIdLst>
    <p:sldId id="1046" r:id="rId6"/>
    <p:sldId id="507" r:id="rId7"/>
    <p:sldId id="1027" r:id="rId8"/>
    <p:sldId id="1034" r:id="rId9"/>
    <p:sldId id="1056" r:id="rId10"/>
    <p:sldId id="1057" r:id="rId11"/>
    <p:sldId id="1058" r:id="rId12"/>
    <p:sldId id="1059" r:id="rId13"/>
    <p:sldId id="1060" r:id="rId14"/>
    <p:sldId id="1061" r:id="rId15"/>
    <p:sldId id="1062" r:id="rId16"/>
    <p:sldId id="1063" r:id="rId17"/>
    <p:sldId id="1050" r:id="rId18"/>
    <p:sldId id="1055" r:id="rId1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A77DFA-3937-4993-AD28-F9C985DF076C}" v="20" dt="2026-03-05T10:53:50.119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9320" autoAdjust="0"/>
  </p:normalViewPr>
  <p:slideViewPr>
    <p:cSldViewPr snapToGrid="0">
      <p:cViewPr varScale="1">
        <p:scale>
          <a:sx n="55" d="100"/>
          <a:sy n="55" d="100"/>
        </p:scale>
        <p:origin x="1020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5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Capstone Project - 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Department of CSE - IT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1:14:08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0 23996,'0'12134'0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1:14:19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23989,'0'175'0,"82"-175"0,-82-175 0,-82 175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1:14:20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1:14:23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Capstone Project - I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Department of CSE -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104A3-EDF0-34FB-7FAD-C46BD29D7EB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Department of CSE - IT</a:t>
            </a:r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7BFB1A5-F1FF-2A17-971E-572211CF49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- I</a:t>
            </a:r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Capstone Project - 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CSE - 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640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55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277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977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561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98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13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825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18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229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68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106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500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10" Type="http://schemas.openxmlformats.org/officeDocument/2006/relationships/image" Target="../media/image4.jpeg"/><Relationship Id="rId4" Type="http://schemas.openxmlformats.org/officeDocument/2006/relationships/image" Target="../media/image5.png"/><Relationship Id="rId9" Type="http://schemas.openxmlformats.org/officeDocument/2006/relationships/customXml" Target="../ink/ink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971ECC5-51D9-4E70-89C1-3DCF3A372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B23AE4-1FC8-68DA-BE55-F2B4A3E95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CAPSTONE PROJECT - 1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</a:b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Year: IV &amp; Semester: VIII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</a:b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Alliance School of Advanced Computing</a:t>
            </a:r>
            <a:b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</a:b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Bookman Old Style" panose="02050604050505020204" pitchFamily="18" charset="0"/>
              </a:rPr>
              <a:t>Department of CSE-AIML</a:t>
            </a:r>
          </a:p>
        </p:txBody>
      </p:sp>
      <p:pic>
        <p:nvPicPr>
          <p:cNvPr id="5" name="Picture 4" descr="A black background with red text&#10;&#10;AI-generated content may be incorrect.">
            <a:extLst>
              <a:ext uri="{FF2B5EF4-FFF2-40B4-BE49-F238E27FC236}">
                <a16:creationId xmlns:a16="http://schemas.microsoft.com/office/drawing/2014/main" id="{5B0AB609-1C8A-7A52-6B87-5C95672451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457" y="793127"/>
            <a:ext cx="8669852" cy="160392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2529AB-8F99-47FB-91B5-93565E54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35159" y="5433708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E11F890-74C3-40C9-9A8B-A80E38704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874070-078A-470B-9C8C-BD1BCB55A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AD7705-F958-6FDD-4E8E-663D644EB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67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448056" y="562774"/>
            <a:ext cx="10963656" cy="78471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tx1"/>
                </a:solidFill>
                <a:latin typeface="Times New Roman"/>
                <a:cs typeface="Times New Roman"/>
              </a:rPr>
              <a:t>Title of the Project: Social Media Sentiment Analysis For rural Development Initiatives using </a:t>
            </a:r>
            <a:r>
              <a:rPr lang="en-IN" sz="2400" b="1">
                <a:solidFill>
                  <a:schemeClr val="tx1"/>
                </a:solidFill>
                <a:latin typeface="Times New Roman"/>
                <a:cs typeface="Times New Roman"/>
              </a:rPr>
              <a:t>Machine Learning</a:t>
            </a:r>
            <a:endParaRPr lang="en-IN" sz="2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F49343-1CAD-8BB2-9B1E-34E21E2A9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86121"/>
              </p:ext>
            </p:extLst>
          </p:nvPr>
        </p:nvGraphicFramePr>
        <p:xfrm>
          <a:off x="371192" y="1533832"/>
          <a:ext cx="11427518" cy="4975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011">
                  <a:extLst>
                    <a:ext uri="{9D8B030D-6E8A-4147-A177-3AD203B41FA5}">
                      <a16:colId xmlns:a16="http://schemas.microsoft.com/office/drawing/2014/main" val="2972400285"/>
                    </a:ext>
                  </a:extLst>
                </a:gridCol>
                <a:gridCol w="2613422">
                  <a:extLst>
                    <a:ext uri="{9D8B030D-6E8A-4147-A177-3AD203B41FA5}">
                      <a16:colId xmlns:a16="http://schemas.microsoft.com/office/drawing/2014/main" val="696111905"/>
                    </a:ext>
                  </a:extLst>
                </a:gridCol>
                <a:gridCol w="3017556">
                  <a:extLst>
                    <a:ext uri="{9D8B030D-6E8A-4147-A177-3AD203B41FA5}">
                      <a16:colId xmlns:a16="http://schemas.microsoft.com/office/drawing/2014/main" val="1956453321"/>
                    </a:ext>
                  </a:extLst>
                </a:gridCol>
                <a:gridCol w="1555927">
                  <a:extLst>
                    <a:ext uri="{9D8B030D-6E8A-4147-A177-3AD203B41FA5}">
                      <a16:colId xmlns:a16="http://schemas.microsoft.com/office/drawing/2014/main" val="141396521"/>
                    </a:ext>
                  </a:extLst>
                </a:gridCol>
                <a:gridCol w="2074570">
                  <a:extLst>
                    <a:ext uri="{9D8B030D-6E8A-4147-A177-3AD203B41FA5}">
                      <a16:colId xmlns:a16="http://schemas.microsoft.com/office/drawing/2014/main" val="4195687047"/>
                    </a:ext>
                  </a:extLst>
                </a:gridCol>
                <a:gridCol w="1273032">
                  <a:extLst>
                    <a:ext uri="{9D8B030D-6E8A-4147-A177-3AD203B41FA5}">
                      <a16:colId xmlns:a16="http://schemas.microsoft.com/office/drawing/2014/main" val="3878184814"/>
                    </a:ext>
                  </a:extLst>
                </a:gridCol>
              </a:tblGrid>
              <a:tr h="9951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Reg.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 of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814615"/>
                  </a:ext>
                </a:extLst>
              </a:tr>
              <a:tr h="9951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2022BCES07AED093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Dinesh Kumar Reddy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CSE-AIML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Jayabhaduri Radhakrishnan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301680"/>
                  </a:ext>
                </a:extLst>
              </a:tr>
              <a:tr h="9951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2022BCES07AED094</a:t>
                      </a:r>
                    </a:p>
                    <a:p>
                      <a:pPr algn="ctr"/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 Charan Reddy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CSE-AIML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559703"/>
                  </a:ext>
                </a:extLst>
              </a:tr>
              <a:tr h="9951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2022BCES07AED150</a:t>
                      </a:r>
                    </a:p>
                    <a:p>
                      <a:pPr algn="ctr"/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Harika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CSE-AIML</a:t>
                      </a:r>
                    </a:p>
                    <a:p>
                      <a:pPr algn="ctr"/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138831"/>
                  </a:ext>
                </a:extLst>
              </a:tr>
              <a:tr h="9951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2022BCES07AED256</a:t>
                      </a:r>
                    </a:p>
                    <a:p>
                      <a:pPr algn="ctr"/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Sai Sindhura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CSE-AIML</a:t>
                      </a:r>
                    </a:p>
                    <a:p>
                      <a:pPr algn="ctr"/>
                      <a:endParaRPr lang="en-US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030967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E6C2AABD-612C-F44E-128E-8584F009D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426" y="0"/>
            <a:ext cx="2369574" cy="56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42886"/>
            <a:ext cx="11175032" cy="5952882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Screenshots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48" y="102255"/>
            <a:ext cx="8962103" cy="640631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CFE3EA3-973C-DB2F-11E7-6ABE9E022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426" y="0"/>
            <a:ext cx="2369574" cy="56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81387"/>
            <a:ext cx="10972800" cy="54005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development programs require continuous public feedback.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feedback collection methods such as surveys and field reports are slow and limited in reach.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platforms contain large volumes of real-time public opinions.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opinions are unstructured textual data, making manual analysis difficult.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Policymakers require an automated system to analyze public sentiment efficiently.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can help understand citizens' perceptions about government initiatives.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9694478-A737-5352-C2E3-72CADE168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426" y="0"/>
            <a:ext cx="2369574" cy="56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4B54FF-C415-E511-91D0-D20BB6E5F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sentiment analysis systems focus on product reviews or marketing data.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tools work only with English language datasets.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provide basic sentiment classification only.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systems process data in offline batches instead of real-time analysis.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 are often limited and provide minimal insights for decision-making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FFE200-E2B0-D4ED-3115-3708C889A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Existing System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6550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859E73-08FD-F886-2150-3E6D215C9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sentiment analysis system for rural development discussions.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social media posts related to government programs and initiatives.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algorithms to classify sentiments.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text preprocessing and feature extraction.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sentiment trends using an interactive dashboard.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to help policy makers understand public opinion.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890487-B776-DB6A-0347-842789522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121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BFA3DA-6A37-AFE3-107D-0A156CAB3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84"/>
            <a:ext cx="10972800" cy="56356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3F31016-F15F-5575-36A3-A9408E77E8FF}"/>
                  </a:ext>
                </a:extLst>
              </p14:cNvPr>
              <p14:cNvContentPartPr/>
              <p14:nvPr/>
            </p14:nvContentPartPr>
            <p14:xfrm>
              <a:off x="9308980" y="1478397"/>
              <a:ext cx="720" cy="4368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3F31016-F15F-5575-36A3-A9408E77E8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96740" y="1472277"/>
                <a:ext cx="25200" cy="438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3B69415-652B-3DE7-E53B-5B9A099489AF}"/>
                  </a:ext>
                </a:extLst>
              </p14:cNvPr>
              <p14:cNvContentPartPr/>
              <p14:nvPr/>
            </p14:nvContentPartPr>
            <p14:xfrm>
              <a:off x="9289180" y="5831877"/>
              <a:ext cx="29880" cy="63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3B69415-652B-3DE7-E53B-5B9A099489A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83060" y="5825397"/>
                <a:ext cx="421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A5D182B-E29C-3E01-F4C2-E9761D4880B9}"/>
                  </a:ext>
                </a:extLst>
              </p14:cNvPr>
              <p14:cNvContentPartPr/>
              <p14:nvPr/>
            </p14:nvContentPartPr>
            <p14:xfrm>
              <a:off x="9318700" y="5836557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A5D182B-E29C-3E01-F4C2-E9761D4880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12580" y="583043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A92851E-4F8C-3442-0C7E-A6099FF675C8}"/>
                  </a:ext>
                </a:extLst>
              </p14:cNvPr>
              <p14:cNvContentPartPr/>
              <p14:nvPr/>
            </p14:nvContentPartPr>
            <p14:xfrm>
              <a:off x="12636100" y="1565877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A92851E-4F8C-3442-0C7E-A6099FF675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629980" y="1559757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BC1AB35-01F7-4BB9-8995-68DA492D52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137" y="1252274"/>
            <a:ext cx="8784465" cy="5032419"/>
          </a:xfrm>
        </p:spPr>
      </p:pic>
    </p:spTree>
    <p:extLst>
      <p:ext uri="{BB962C8B-B14F-4D97-AF65-F5344CB8AC3E}">
        <p14:creationId xmlns:p14="http://schemas.microsoft.com/office/powerpoint/2010/main" val="266361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FF77A4-FB7E-9381-7C72-01A5A1941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6018"/>
            <a:ext cx="10972800" cy="45259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Pandas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Tools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B21BED-6767-61B2-0A9C-FF4664FBC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0055"/>
            <a:ext cx="10972800" cy="56356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979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4C1D6C-F51C-1428-2E05-E7B32808F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sentiment classification of social media posts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analyzing large volumes of text data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machine learning models for comparison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visualization dashboard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trend monitoring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insights for policy makers and researchers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C31250-C21E-A648-3B29-22D9E72C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04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16FFBDB0-B538-4381-8084-506DB12FB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84453"/>
            <a:ext cx="5339787" cy="453424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85B40B6-718B-47D6-9D93-24DBB9B4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SCREENSHOTS: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B552A0-086F-4707-8A23-461FB57E3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387" y="1365813"/>
            <a:ext cx="6095999" cy="453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EF8873-32D9-41D0-89A2-EE10C0AECF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23" y="906997"/>
            <a:ext cx="5574577" cy="43942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4FE418-727C-4385-A84F-0ABFB121D2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35789"/>
            <a:ext cx="5826305" cy="419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46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9B2868-9EFF-4F05-B7F2-B62D1F0E5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28" y="1417403"/>
            <a:ext cx="10972800" cy="4454008"/>
          </a:xfrm>
        </p:spPr>
      </p:pic>
    </p:spTree>
    <p:extLst>
      <p:ext uri="{BB962C8B-B14F-4D97-AF65-F5344CB8AC3E}">
        <p14:creationId xmlns:p14="http://schemas.microsoft.com/office/powerpoint/2010/main" val="33325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8D215D-0914-4AA2-7EDA-D508A2694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were trained and evaluated.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classification achieved good accuracy levels.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dashboard provides clear insights into public sentiment trends.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that SVM model performs best among tested models.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7A7815-2438-D640-037D-F7E55CCA2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790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72601C-390E-C086-4E37-8E39A1995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82570"/>
            <a:ext cx="109728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sentiment analysis system for rural development discussions.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successfully classify sentiments.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provides useful insights for decision makers.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practical application of AI in governance.</a:t>
            </a:r>
          </a:p>
          <a:p>
            <a:pPr marL="0" indent="0">
              <a:buNone/>
            </a:pPr>
            <a:r>
              <a:rPr lang="en-US" sz="2400" b="1" dirty="0"/>
              <a:t>Future Scope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Integration with real-time social media APIs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Support for more Indian regional languages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Use of deep learning models for improved 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Cloud deployment for scalability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F0C628-DBF2-A0BB-FA22-02C36F9ED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89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e395646-9bde-4136-9019-e9b360c7fef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4DA72B24890E47A1A49FE43A888A7F" ma:contentTypeVersion="12" ma:contentTypeDescription="Create a new document." ma:contentTypeScope="" ma:versionID="43be8eb081244a60dc52f4cc9bf195ac">
  <xsd:schema xmlns:xsd="http://www.w3.org/2001/XMLSchema" xmlns:xs="http://www.w3.org/2001/XMLSchema" xmlns:p="http://schemas.microsoft.com/office/2006/metadata/properties" xmlns:ns3="5e395646-9bde-4136-9019-e9b360c7fefb" xmlns:ns4="47f53f84-454f-4afa-9ae6-91242f3f22b4" targetNamespace="http://schemas.microsoft.com/office/2006/metadata/properties" ma:root="true" ma:fieldsID="2dcf750f96dfb07355e3bb02ae63d11e" ns3:_="" ns4:_="">
    <xsd:import namespace="5e395646-9bde-4136-9019-e9b360c7fefb"/>
    <xsd:import namespace="47f53f84-454f-4afa-9ae6-91242f3f22b4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95646-9bde-4136-9019-e9b360c7fefb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53f84-454f-4afa-9ae6-91242f3f22b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567CD1-0AB0-490B-8529-46327764C7AE}">
  <ds:schemaRefs>
    <ds:schemaRef ds:uri="5e395646-9bde-4136-9019-e9b360c7fefb"/>
    <ds:schemaRef ds:uri="http://schemas.openxmlformats.org/package/2006/metadata/core-properties"/>
    <ds:schemaRef ds:uri="http://purl.org/dc/elements/1.1/"/>
    <ds:schemaRef ds:uri="http://www.w3.org/XML/1998/namespace"/>
    <ds:schemaRef ds:uri="http://purl.org/dc/dcmitype/"/>
    <ds:schemaRef ds:uri="http://schemas.microsoft.com/office/infopath/2007/PartnerControls"/>
    <ds:schemaRef ds:uri="47f53f84-454f-4afa-9ae6-91242f3f22b4"/>
    <ds:schemaRef ds:uri="http://schemas.microsoft.com/office/2006/documentManagement/typ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E210D10-B176-4C1F-B638-8B09AF78EB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DB3E17-2A49-4055-A6A7-3227852A84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395646-9bde-4136-9019-e9b360c7fefb"/>
    <ds:schemaRef ds:uri="47f53f84-454f-4afa-9ae6-91242f3f22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965</TotalTime>
  <Words>482</Words>
  <Application>Microsoft Office PowerPoint</Application>
  <PresentationFormat>Widescreen</PresentationFormat>
  <Paragraphs>104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Bookman Old Style</vt:lpstr>
      <vt:lpstr>Calibri</vt:lpstr>
      <vt:lpstr>Calibri Light</vt:lpstr>
      <vt:lpstr>Times New Roman</vt:lpstr>
      <vt:lpstr>Wingdings</vt:lpstr>
      <vt:lpstr>Office Theme</vt:lpstr>
      <vt:lpstr>Retrospect</vt:lpstr>
      <vt:lpstr>CAPSTONE PROJECT - 1 Year: IV &amp; Semester: VIII Alliance School of Advanced Computing Department of CSE-AIML</vt:lpstr>
      <vt:lpstr>PowerPoint Presentation</vt:lpstr>
      <vt:lpstr>  Agenda   </vt:lpstr>
      <vt:lpstr>Problem Statement</vt:lpstr>
      <vt:lpstr>Existing System</vt:lpstr>
      <vt:lpstr>Proposed System</vt:lpstr>
      <vt:lpstr>Architecture</vt:lpstr>
      <vt:lpstr>Technology Stack</vt:lpstr>
      <vt:lpstr>Key Features</vt:lpstr>
      <vt:lpstr>DEMO SCREENSHOTS:</vt:lpstr>
      <vt:lpstr>PowerPoint Presentation</vt:lpstr>
      <vt:lpstr>PowerPoint Presentation</vt:lpstr>
      <vt:lpstr>Results</vt:lpstr>
      <vt:lpstr>Conclusion &amp;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K HARIKA</cp:lastModifiedBy>
  <cp:revision>59</cp:revision>
  <cp:lastPrinted>2020-11-26T03:04:06Z</cp:lastPrinted>
  <dcterms:created xsi:type="dcterms:W3CDTF">2008-12-05T06:42:08Z</dcterms:created>
  <dcterms:modified xsi:type="dcterms:W3CDTF">2026-03-09T09:11:45Z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0x0101000B4DA72B24890E47A1A49FE43A888A7F</vt:lpwstr>
  </property>
</Properties>
</file>